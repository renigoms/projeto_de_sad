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7" roundtripDataSignature="AMtx7mgDjR6f5A5W1M2uM/TZH0pEDsQA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62D986-DCBF-40E7-BDD5-810F28A7CF42}">
  <a:tblStyle styleId="{1262D986-DCBF-40E7-BDD5-810F28A7CF4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9FB2169-7882-4E56-B61D-696A2B33031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customschemas.google.com/relationships/presentationmetadata" Target="meta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658a97d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8658a97d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d5f0ea03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d5f0ea03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b765e90c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b765e90c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e2301ea9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8e2301ea9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e2301ea90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e2301ea90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c623745d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ac623745d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ca8f3afa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aca8f3afa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ca8f3afa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aca8f3afa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ca8f3afa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aca8f3afa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f1c62c758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af1c62c758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f1c62c758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af1c62c758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ca8f3afa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aca8f3afa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f1c62c758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af1c62c758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ca8f3afa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aca8f3afa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ca8f3afa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aca8f3afa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ca8f3afa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aca8f3afa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ca8f3afa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aca8f3afa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ca8f3afa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aca8f3afa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ca8f3afa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aca8f3afa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ca8f3afa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aca8f3afa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renan.ngome@ufrpe.br" TargetMode="External"/><Relationship Id="rId4" Type="http://schemas.openxmlformats.org/officeDocument/2006/relationships/hyperlink" Target="https://www.ibge.gov.br/estatisticas/economicas/contas-nacionais/9088-produto-interno-bruto-dos-municipios.html?=&amp;t=downloads" TargetMode="External"/><Relationship Id="rId5" Type="http://schemas.openxmlformats.org/officeDocument/2006/relationships/hyperlink" Target="https://app.powerbi.com/view?r=eyJrIjoiNzUxODU3ZDctYzk3MS00ZTI1LWJmMmItZTVhODQ5ZjI3NTUwIiwidCI6IjE0ZTU2YjY2LWNiYTctNDBhZi04YzY0LTY5ZGE4YjFhNWQzNyJ9" TargetMode="External"/><Relationship Id="rId6" Type="http://schemas.openxmlformats.org/officeDocument/2006/relationships/hyperlink" Target="https://app.powerbi.com/view?r=eyJrIjoiNGFiY2EyZjMtZmUwMy00NzQzLTllMDQtMThhNDdiOGUwNDc3IiwidCI6IjE0ZTU2YjY2LWNiYTctNDBhZi04YzY0LTY5ZGE4YjFhNWQzNyJ9" TargetMode="External"/><Relationship Id="rId7" Type="http://schemas.openxmlformats.org/officeDocument/2006/relationships/hyperlink" Target="https://github.com/renigoms/projeto_de_sad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ibge.gov.br/estatisticas/economicas/contas-nacionais/9088-produto-interno-bruto-dos-municipios.html?=&amp;t=download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ibge.gov.br/estatisticas/economicas/contas-nacionais/9088-produto-interno-bruto-dos-municipios.html?=&amp;t=download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ibge.gov.br/estatisticas/economicas/contas-nacionais/9088-produto-interno-bruto-dos-municipios.html?=&amp;t=download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renigoms/projeto_de_sad/blob/main/metadata.xlsx" TargetMode="External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0" y="182550"/>
            <a:ext cx="8520600" cy="133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 sz="4000"/>
              <a:t>Análise </a:t>
            </a:r>
            <a:r>
              <a:rPr lang="pt-BR" sz="4000"/>
              <a:t>Econômica dos Municípios de Pernambuco</a:t>
            </a:r>
            <a:r>
              <a:rPr lang="pt-BR" sz="4000"/>
              <a:t> </a:t>
            </a:r>
            <a:endParaRPr sz="400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438550" y="1520850"/>
            <a:ext cx="8520600" cy="10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600"/>
              <a:t>Renan Nicolau Gomes(</a:t>
            </a:r>
            <a:r>
              <a:rPr lang="pt-BR" sz="1600" u="sng">
                <a:solidFill>
                  <a:schemeClr val="hlink"/>
                </a:solidFill>
                <a:hlinkClick r:id="rId3"/>
              </a:rPr>
              <a:t>renan.ngome@ufrpe.br</a:t>
            </a:r>
            <a:r>
              <a:rPr lang="pt-BR" sz="1600"/>
              <a:t>);</a:t>
            </a:r>
            <a:endParaRPr sz="1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600"/>
              <a:t>Antonio Felipe Rocha Ferreira Marques(antonio.ferreiramarques@ufrpe.br)</a:t>
            </a:r>
            <a:endParaRPr sz="1600"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311700" y="2331900"/>
            <a:ext cx="8520600" cy="2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400"/>
              <a:t>Fonte dos Dados: </a:t>
            </a:r>
            <a:r>
              <a:rPr lang="pt-BR" sz="1400" u="sng">
                <a:solidFill>
                  <a:schemeClr val="hlink"/>
                </a:solidFill>
                <a:hlinkClick r:id="rId4"/>
              </a:rPr>
              <a:t>https://www.ibge.gov.br/estatisticas/economicas/contas-nacionais/9088-produto-interno-bruto-dos-municipios.html?=&amp;t=downloads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400"/>
              <a:t>Aplicação OLAP: </a:t>
            </a:r>
            <a:endParaRPr sz="1400"/>
          </a:p>
          <a:p>
            <a: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 u="sng">
                <a:solidFill>
                  <a:schemeClr val="hlink"/>
                </a:solidFill>
                <a:hlinkClick r:id="rId5"/>
              </a:rPr>
              <a:t>https://app.powerbi.com/view?r=eyJrIjoiNzUxODU3ZDctYzk3MS00ZTI1LWJmMmItZTVhODQ5ZjI3NTUwIiwidCI6IjE0ZTU2YjY2LWNiYTctNDBhZi04YzY0LTY5ZGE4YjFhNWQzNyJ9</a:t>
            </a:r>
            <a:endParaRPr sz="1400"/>
          </a:p>
          <a:p>
            <a: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 u="sng">
                <a:solidFill>
                  <a:schemeClr val="hlink"/>
                </a:solidFill>
                <a:hlinkClick r:id="rId6"/>
              </a:rPr>
              <a:t>https://app.powerbi.com/view?r=eyJrIjoiNGFiY2EyZjMtZmUwMy00NzQzLTllMDQtMThhNDdiOGUwNDc3IiwidCI6IjE0ZTU2YjY2LWNiYTctNDBhZi04YzY0LTY5ZGE4YjFhNWQzNyJ9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400"/>
              <a:t>Github: 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400" u="sng">
                <a:solidFill>
                  <a:schemeClr val="hlink"/>
                </a:solidFill>
                <a:hlinkClick r:id="rId7"/>
              </a:rPr>
              <a:t>https://github.com/renigoms/projeto_de_sad</a:t>
            </a:r>
            <a:endParaRPr sz="1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ETAPA 1 - PLANEJAMENTO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pt-BR"/>
              <a:t>Contextualização</a:t>
            </a:r>
            <a:endParaRPr/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presente análise econômica de PIB dos municípios do estado de Pernambuco tem como intuito servir como ferramenta para que diversos setores possam fazer uso para atingir seus objetivos econômicos, como:</a:t>
            </a:r>
            <a:endParaRPr/>
          </a:p>
          <a:p>
            <a:pPr indent="-342900" lvl="0" marL="13716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Qual o melhor lugar para abrir uma loja ou filial?</a:t>
            </a:r>
            <a:endParaRPr b="1"/>
          </a:p>
          <a:p>
            <a:pPr indent="-342900" lvl="0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Qual melhor preço a ser cobrado?</a:t>
            </a:r>
            <a:endParaRPr b="1"/>
          </a:p>
          <a:p>
            <a:pPr indent="-342900" lvl="0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Como está a economia da cidade? 	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2"/>
            </a:pPr>
            <a:r>
              <a:rPr lang="pt-BR"/>
              <a:t>Escopo/objetivo do Data Mart</a:t>
            </a:r>
            <a:endParaRPr/>
          </a:p>
        </p:txBody>
      </p:sp>
      <p:sp>
        <p:nvSpPr>
          <p:cNvPr id="73" name="Google Shape;73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Coletar e tratar dados do PIB (Produto Interno Bruto) e PIB per capita dos municípios do estado de Pernambuco, referentes ao período entre 2002 e 2021. Além de oferecer uma interface intuitiva e amigável, facilitando análise e a tomada de decisão.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3"/>
            </a:pPr>
            <a:r>
              <a:rPr lang="pt-BR"/>
              <a:t>Arquitetura Tecnológica</a:t>
            </a:r>
            <a:endParaRPr/>
          </a:p>
        </p:txBody>
      </p:sp>
      <p:sp>
        <p:nvSpPr>
          <p:cNvPr id="79" name="Google Shape;79;p5"/>
          <p:cNvSpPr txBox="1"/>
          <p:nvPr/>
        </p:nvSpPr>
        <p:spPr>
          <a:xfrm>
            <a:off x="0" y="1125825"/>
            <a:ext cx="914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pt-BR" sz="1600">
                <a:solidFill>
                  <a:schemeClr val="dk2"/>
                </a:solidFill>
              </a:rPr>
              <a:t>Fonte da base de dados</a:t>
            </a:r>
            <a:r>
              <a:rPr lang="pt-BR" sz="1600">
                <a:solidFill>
                  <a:schemeClr val="dk2"/>
                </a:solidFill>
              </a:rPr>
              <a:t>: Produto Interno Bruto dos Municípios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80" name="Google Shape;8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300" y="1665025"/>
            <a:ext cx="6829625" cy="14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 txBox="1"/>
          <p:nvPr/>
        </p:nvSpPr>
        <p:spPr>
          <a:xfrm>
            <a:off x="0" y="3399550"/>
            <a:ext cx="9144000" cy="13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Os dados são obtidos a partir de arquivos CSV disponibilizados pelo site do IBGE, posteriormente processados e transformados no Pentaho, armazenados no banco de dados PostgreSQL e, por fim, visualizados no Power BI para a análise dos indicadores.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type="title"/>
          </p:nvPr>
        </p:nvSpPr>
        <p:spPr>
          <a:xfrm>
            <a:off x="235500" y="89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4"/>
            </a:pPr>
            <a:r>
              <a:rPr lang="pt-BR"/>
              <a:t>Processo</a:t>
            </a:r>
            <a:endParaRPr/>
          </a:p>
        </p:txBody>
      </p:sp>
      <p:sp>
        <p:nvSpPr>
          <p:cNvPr id="87" name="Google Shape;87;p6"/>
          <p:cNvSpPr txBox="1"/>
          <p:nvPr>
            <p:ph idx="1" type="body"/>
          </p:nvPr>
        </p:nvSpPr>
        <p:spPr>
          <a:xfrm>
            <a:off x="235500" y="463525"/>
            <a:ext cx="8520600" cy="4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pt-BR" sz="1600"/>
              <a:t>Escolha das Ferramentas</a:t>
            </a:r>
            <a:r>
              <a:rPr lang="pt-BR" sz="1600"/>
              <a:t>: Foram escolhidos o software Pentaho para operações de ETL, o SGBD PostgreSQL para carregamento e consulta dos dados e o Power BI para operações OLAP;</a:t>
            </a:r>
            <a:endParaRPr sz="1600"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pt-BR" sz="1600"/>
              <a:t>Processo de ETL</a:t>
            </a:r>
            <a:r>
              <a:rPr lang="pt-BR" sz="1600"/>
              <a:t>: O processo de extração ocorreu por meio da inserção de dois arquivos no Pentaho, em que juntos contém os dados econômicos dos municípios entre os anos de 2002 a 2021, juntamente com o ano de referência. O tratamento foi realizado através da união desses dois arquivos e seleção dos campos que seriam utilizados, enquanto o armazenamento ocorreu pela inserção dos dados tratados no PostgreSQL.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658a97db1_0_0"/>
          <p:cNvSpPr txBox="1"/>
          <p:nvPr>
            <p:ph type="title"/>
          </p:nvPr>
        </p:nvSpPr>
        <p:spPr>
          <a:xfrm>
            <a:off x="235500" y="89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4"/>
            </a:pPr>
            <a:r>
              <a:rPr lang="pt-BR"/>
              <a:t>Processo de Construção do Data Mart</a:t>
            </a:r>
            <a:endParaRPr/>
          </a:p>
        </p:txBody>
      </p:sp>
      <p:sp>
        <p:nvSpPr>
          <p:cNvPr id="93" name="Google Shape;93;g38658a97db1_0_0"/>
          <p:cNvSpPr txBox="1"/>
          <p:nvPr>
            <p:ph idx="1" type="body"/>
          </p:nvPr>
        </p:nvSpPr>
        <p:spPr>
          <a:xfrm>
            <a:off x="235500" y="231750"/>
            <a:ext cx="8520600" cy="4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pt-BR"/>
              <a:t>Exploração da base</a:t>
            </a:r>
            <a:r>
              <a:rPr lang="pt-BR"/>
              <a:t>: Identificar colunas, granularidade (ano, município), e presença de setores.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pt-BR"/>
              <a:t> </a:t>
            </a:r>
            <a:r>
              <a:rPr b="1" lang="pt-BR"/>
              <a:t>Limpeza e padronização</a:t>
            </a:r>
            <a:r>
              <a:rPr lang="pt-BR"/>
              <a:t>: Corrigir nomes de municípios, tratar valores nulos, normalizar formatos.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pt-BR"/>
              <a:t>Criação das dimensões</a:t>
            </a:r>
            <a:r>
              <a:rPr lang="pt-BR"/>
              <a:t>: Separar atributos descritivos em tabelas próprias.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pt-BR"/>
              <a:t>Criação da tabela fato</a:t>
            </a:r>
            <a:r>
              <a:rPr lang="pt-BR"/>
              <a:t>: Agregar os dados de PIB por município e ano.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pt-BR"/>
              <a:t>Relacionamento entre tabelas</a:t>
            </a:r>
            <a:r>
              <a:rPr lang="pt-BR"/>
              <a:t>: Chaves primárias e estrangeiras bem definidas.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pt-BR"/>
              <a:t>Validação</a:t>
            </a:r>
            <a:r>
              <a:rPr lang="pt-BR"/>
              <a:t>: Conferir totais por estado, ano, e consistência entre PIB e população.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pt-BR"/>
              <a:t>Publicação</a:t>
            </a:r>
            <a:r>
              <a:rPr lang="pt-BR"/>
              <a:t>: Conectar a ferramentas OLAP ou BI para visualização.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type="title"/>
          </p:nvPr>
        </p:nvSpPr>
        <p:spPr>
          <a:xfrm>
            <a:off x="311700" y="88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4"/>
            </a:pPr>
            <a:r>
              <a:rPr lang="pt-BR"/>
              <a:t>Abordagem</a:t>
            </a:r>
            <a:endParaRPr/>
          </a:p>
        </p:txBody>
      </p:sp>
      <p:sp>
        <p:nvSpPr>
          <p:cNvPr id="99" name="Google Shape;99;p7"/>
          <p:cNvSpPr txBox="1"/>
          <p:nvPr>
            <p:ph idx="1" type="body"/>
          </p:nvPr>
        </p:nvSpPr>
        <p:spPr>
          <a:xfrm>
            <a:off x="311700" y="358250"/>
            <a:ext cx="8520600" cy="47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/>
              <a:t>Bottom-up</a:t>
            </a:r>
            <a:r>
              <a:rPr lang="pt-BR"/>
              <a:t>: </a:t>
            </a:r>
            <a:r>
              <a:rPr lang="pt-BR"/>
              <a:t>Essa técnica começa com uma visão geral ou estratégica, após isso as partes menores são detalhadas. O bottom-up foi escolhido devido aos seus princípios serem focados na construção de data marts para áreas específicas. Além disso, se necessário, é possível unir vários data marts para formar um data warehouse. Como para a disciplina, foi solicitado a construção de um data mart, o bottom-up é a melhor opção.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b="1" lang="pt-BR"/>
              <a:t>Star-Schema</a:t>
            </a:r>
            <a:r>
              <a:rPr lang="pt-BR"/>
              <a:t>: </a:t>
            </a:r>
            <a:r>
              <a:rPr lang="pt-BR"/>
              <a:t>Neste tipo de </a:t>
            </a:r>
            <a:r>
              <a:rPr lang="pt-BR"/>
              <a:t>modelagem</a:t>
            </a:r>
            <a:r>
              <a:rPr lang="pt-BR"/>
              <a:t>, a tabela fato é ligada diretamente nas tabelas de dimensão. Sendo um modelo mais simples e rápido para consultas. Este modelo foi escolhido devido a vários benefícios que ele </a:t>
            </a:r>
            <a:r>
              <a:rPr lang="pt-BR"/>
              <a:t>possui</a:t>
            </a:r>
            <a:r>
              <a:rPr lang="pt-BR"/>
              <a:t>, como: consultas mais rápidas e simples, facilidade no entendimento, simplicidade na manutenção. Este último benefício é ideal quando um dos objetivos é usar o banco de dados para a criação de dashboard usando ferramentas OLAP, como por exemplo, o Power BI.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5"/>
            </a:pPr>
            <a:r>
              <a:rPr lang="pt-BR"/>
              <a:t>Usuários</a:t>
            </a:r>
            <a:endParaRPr/>
          </a:p>
        </p:txBody>
      </p:sp>
      <p:sp>
        <p:nvSpPr>
          <p:cNvPr id="105" name="Google Shape;105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Governo;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Instituições Financeiras e Investidores;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Indústria e Comércio;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pt-BR"/>
              <a:t>Startups;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ETAPA 2 - LEVANTAMENTO DAS NECESSIDADES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6"/>
            </a:pPr>
            <a:r>
              <a:rPr lang="pt-BR"/>
              <a:t>Consultas de Apoio à Decisão</a:t>
            </a:r>
            <a:endParaRPr/>
          </a:p>
        </p:txBody>
      </p:sp>
      <p:sp>
        <p:nvSpPr>
          <p:cNvPr id="116" name="Google Shape;116;p10"/>
          <p:cNvSpPr txBox="1"/>
          <p:nvPr>
            <p:ph idx="1" type="body"/>
          </p:nvPr>
        </p:nvSpPr>
        <p:spPr>
          <a:xfrm>
            <a:off x="311700" y="1017725"/>
            <a:ext cx="8520600" cy="4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Análise do PIB em cada ano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Análise do PIB ao longo dos anos (análise temporal).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Análise do PIB per capita em cada ano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Análise do PIB per capita ao longo dos anos (análise temporal).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Composição setorial do Valor Adicionado (VA)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Mostra quanto cada setor representou no Valor Adicionado (VA).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Participação percentual de cada setor no PIB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Entender a importância relativa dos setores para compor o PIB </a:t>
            </a:r>
            <a:r>
              <a:rPr lang="pt-BR" sz="1800"/>
              <a:t>ao longo dos anos</a:t>
            </a:r>
            <a:r>
              <a:rPr lang="pt-BR" sz="1800"/>
              <a:t>.</a:t>
            </a:r>
            <a:endParaRPr sz="1800">
              <a:highlight>
                <a:srgbClr val="FF0000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/>
          <p:nvPr>
            <p:ph type="title"/>
          </p:nvPr>
        </p:nvSpPr>
        <p:spPr>
          <a:xfrm>
            <a:off x="399450" y="194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7"/>
            </a:pPr>
            <a:r>
              <a:rPr lang="pt-BR"/>
              <a:t>Indicadores do &lt;PIB por município&gt;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2" name="Google Shape;122;p11"/>
          <p:cNvSpPr txBox="1"/>
          <p:nvPr/>
        </p:nvSpPr>
        <p:spPr>
          <a:xfrm>
            <a:off x="311700" y="4465525"/>
            <a:ext cx="83043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Fonte:</a:t>
            </a:r>
            <a:r>
              <a:rPr b="1" lang="pt-BR" u="sng">
                <a:solidFill>
                  <a:schemeClr val="hlink"/>
                </a:solidFill>
                <a:hlinkClick r:id="rId3"/>
              </a:rPr>
              <a:t>https://www.ibge.gov.br/estatisticas/economicas/contas-nacionais/9088-produto-interno-bruto-dos-municipios.html?=&amp;t=downloads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3" name="Google Shape;123;p11"/>
          <p:cNvGraphicFramePr/>
          <p:nvPr/>
        </p:nvGraphicFramePr>
        <p:xfrm>
          <a:off x="311700" y="838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{1262D986-DCBF-40E7-BDD5-810F28A7CF42}</a:tableStyleId>
              </a:tblPr>
              <a:tblGrid>
                <a:gridCol w="1487450"/>
                <a:gridCol w="1976750"/>
                <a:gridCol w="2454625"/>
                <a:gridCol w="2601775"/>
              </a:tblGrid>
              <a:tr h="49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Indicadores</a:t>
                      </a:r>
                      <a:endParaRPr b="1"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O que Mede</a:t>
                      </a:r>
                      <a:endParaRPr b="1" sz="1000"/>
                    </a:p>
                  </a:txBody>
                  <a:tcPr marT="91425" marB="91425" marR="91425" marL="91425"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Aplicação na Tomada de Decisão pelo Gestor</a:t>
                      </a:r>
                      <a:endParaRPr b="1" sz="1000"/>
                    </a:p>
                  </a:txBody>
                  <a:tcPr marT="91425" marB="91425" marR="91425" marL="91425"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Exemplos de Decisões Influenciadas</a:t>
                      </a:r>
                      <a:endParaRPr b="1" sz="1000"/>
                    </a:p>
                  </a:txBody>
                  <a:tcPr marT="91425" marB="91425" marR="91425" marL="91425">
                    <a:lnR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</a:tr>
              <a:tr h="12373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Crescimento anual do PIB, impostos líquidos e valor adicionado.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Mede como o PIB, impostos líquidos e valor adicionado evoluem ao longo dos anos, tanto em cada município quanto em microrregiões.</a:t>
                      </a:r>
                      <a:endParaRPr sz="1000"/>
                    </a:p>
                  </a:txBody>
                  <a:tcPr marT="91425" marB="91425" marR="91425" marL="91425"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Permite ao gestor compreender a realidade econômica local, orientar decisões estratégicas em orçamento e investimentos e, avaliar os resultados das políticas públicas, ajustando-as sempre que necessário.</a:t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pt-BR" sz="1000"/>
                        <a:t>Diagnosticar a economia local;</a:t>
                      </a:r>
                      <a:endParaRPr sz="1000"/>
                    </a:p>
                    <a:p>
                      <a:pPr indent="-2921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pt-BR" sz="1000"/>
                        <a:t>Definir prioridades de investimento;</a:t>
                      </a:r>
                      <a:endParaRPr sz="1000"/>
                    </a:p>
                    <a:p>
                      <a:pPr indent="-2921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pt-BR" sz="1000"/>
                        <a:t>Ajustar políticas tributárias;</a:t>
                      </a:r>
                      <a:endParaRPr sz="1000"/>
                    </a:p>
                    <a:p>
                      <a:pPr indent="-2921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pt-BR" sz="1000"/>
                        <a:t>Avaliar resultados das ações pública.</a:t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R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</a:tcPr>
                </a:tc>
              </a:tr>
              <a:tr h="12718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Variação anual, em porcentagem, do PIB.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Mede, em percentual, se a economia e a arrecadação cresceram ou caíram em relação ao ano anterior.</a:t>
                      </a:r>
                      <a:endParaRPr sz="1000"/>
                    </a:p>
                  </a:txBody>
                  <a:tcPr marT="91425" marB="91425" marR="91425" marL="91425"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O acompanhamento do PIB orienta gestores na definição de prioridades, no planejamento de investimentos e na avaliação de políticas públicas, garantindo decisões mais estratégicas e eficazes para o desenvolvimento local e regional.</a:t>
                      </a:r>
                      <a:endParaRPr sz="1000"/>
                    </a:p>
                  </a:txBody>
                  <a:tcPr marT="91425" marB="91425" marR="91425" marL="91425"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Orçamento público;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Política tributária;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Planejamento de investimentos;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Avaliação de políticas públicas;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Captação de recursos externos.</a:t>
                      </a:r>
                      <a:endParaRPr sz="1000"/>
                    </a:p>
                  </a:txBody>
                  <a:tcPr marT="91425" marB="91425" marR="91425" marL="91425">
                    <a:lnR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d5f0ea03b_0_9"/>
          <p:cNvSpPr txBox="1"/>
          <p:nvPr/>
        </p:nvSpPr>
        <p:spPr>
          <a:xfrm>
            <a:off x="312675" y="4579400"/>
            <a:ext cx="83034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9" name="Google Shape;129;g38d5f0ea03b_0_9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{1262D986-DCBF-40E7-BDD5-810F28A7CF42}</a:tableStyleId>
              </a:tblPr>
              <a:tblGrid>
                <a:gridCol w="1578100"/>
                <a:gridCol w="1850900"/>
                <a:gridCol w="2981325"/>
                <a:gridCol w="2733675"/>
              </a:tblGrid>
              <a:tr h="13885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/>
                        <a:t>Crescimento anual do valor adicionado total e dos seus tipos: adepss, serviços, </a:t>
                      </a:r>
                      <a:r>
                        <a:rPr lang="pt-BR" sz="1000"/>
                        <a:t>indústria e agropecuária.</a:t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Mede quais setores estão impulsionando ou freando o crescimento econômico local.</a:t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 análise do crescimento do valor adicionado e dos seus setores é uma ferramenta estratégica que ajuda o gestor a direcionar recursos, equilibrar o desenvolvimento entre áreas e ajustar políticas conforme a dinâmica econômica local e regional.</a:t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pt-BR" sz="1000"/>
                        <a:t>Expansão ou ajuste do orçamento municipal;</a:t>
                      </a:r>
                      <a:endParaRPr sz="1000"/>
                    </a:p>
                    <a:p>
                      <a:pPr indent="-2921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pt-BR" sz="1000"/>
                        <a:t>Ampliar ou racionalizar serviços públicos (escolas, hospitais, programas sociais);</a:t>
                      </a:r>
                      <a:endParaRPr sz="1000"/>
                    </a:p>
                    <a:p>
                      <a:pPr indent="-2921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pt-BR" sz="1000"/>
                        <a:t>Investir em agropecuária, comércio, turismo e qualificação da mão de obra.</a:t>
                      </a:r>
                      <a:endParaRPr sz="1000"/>
                    </a:p>
                  </a:txBody>
                  <a:tcPr marT="91425" marB="91425" marR="91425" marL="91425">
                    <a:lnR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</a:tcPr>
                </a:tc>
              </a:tr>
              <a:tr h="116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Valor anual, em porcentagem, dos tipos de valor adicionado na composição do valor adicionado total.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Mede a participação percentual de cada tipo de valor adicionado (</a:t>
                      </a: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adepss, serviços, indústria e agropecuária</a:t>
                      </a:r>
                      <a:r>
                        <a:rPr lang="pt-BR" sz="1000"/>
                        <a:t>) na formação do valor adicionado total.</a:t>
                      </a:r>
                      <a:endParaRPr sz="1000"/>
                    </a:p>
                  </a:txBody>
                  <a:tcPr marT="91425" marB="91425" marR="91425" marL="91425"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A análise desta composição</a:t>
                      </a:r>
                      <a:r>
                        <a:rPr lang="pt-BR" sz="1000"/>
                        <a:t> ajuda o gestor a entender a base econômica local e a decidir onde aplicar recursos e políticas, garantindo desenvolvimento equilibrado e sustentável.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pt-BR" sz="1000"/>
                        <a:t>Expansão dos setores públicos, como escolas e hospitais;</a:t>
                      </a:r>
                      <a:endParaRPr sz="1000"/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pt-BR" sz="1000"/>
                        <a:t>Planejar distritos industriais e melhorar logística;</a:t>
                      </a:r>
                      <a:endParaRPr sz="1000"/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pt-BR" sz="1000"/>
                        <a:t>Ampliar infraestrutura rural (estradas, armazéns, irrigação).</a:t>
                      </a:r>
                      <a:endParaRPr sz="1000"/>
                    </a:p>
                  </a:txBody>
                  <a:tcPr marT="91425" marB="91425" marR="91425" marL="91425">
                    <a:lnR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14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Valor anual, em porcentagem, dos tipos de valor adicionado na composição do PIB.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Mede </a:t>
                      </a: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a participação percentual de cada tipo de valor adicionado (adepss, serviços, indústria e agropecuária) na formação do PIB.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.</a:t>
                      </a:r>
                      <a:endParaRPr sz="1000"/>
                    </a:p>
                  </a:txBody>
                  <a:tcPr marT="91425" marB="91425" marR="91425" marL="91425"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A análise desta composição ajuda </a:t>
                      </a:r>
                      <a:r>
                        <a:rPr lang="pt-BR" sz="1000"/>
                        <a:t>o gestor a entender o quanto cada setor do valor adicionado está diretamente gerando valor ao PIB.</a:t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.</a:t>
                      </a:r>
                      <a:endParaRPr sz="1000"/>
                    </a:p>
                  </a:txBody>
                  <a:tcPr marT="91425" marB="91425" marR="91425" marL="91425"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pt-BR" sz="1000"/>
                        <a:t>Planejar eficiência administrativa e racionalização de gastos.</a:t>
                      </a:r>
                      <a:endParaRPr sz="1000"/>
                    </a:p>
                    <a:p>
                      <a:pPr indent="-2921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pt-BR" sz="1000"/>
                        <a:t>Melhorar a infraestrutura dos setores de valor adicionado (transporte, comércio, turismo);</a:t>
                      </a:r>
                      <a:endParaRPr sz="1000"/>
                    </a:p>
                    <a:p>
                      <a:pPr indent="-2921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pt-BR" sz="1000"/>
                        <a:t>Ampliar logística, energia e incentivos fiscais para atrair empresas;</a:t>
                      </a:r>
                      <a:endParaRPr sz="1000"/>
                    </a:p>
                    <a:p>
                      <a:pPr indent="-2921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pt-BR" sz="1000"/>
                        <a:t>Apoiar cooperativas, crédito agrícola e diversificação produtiva.</a:t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R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g38d5f0ea03b_0_9"/>
          <p:cNvSpPr txBox="1"/>
          <p:nvPr/>
        </p:nvSpPr>
        <p:spPr>
          <a:xfrm>
            <a:off x="311700" y="4465525"/>
            <a:ext cx="83043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Fonte:</a:t>
            </a:r>
            <a:r>
              <a:rPr b="1" lang="pt-BR" u="sng">
                <a:solidFill>
                  <a:schemeClr val="hlink"/>
                </a:solidFill>
                <a:hlinkClick r:id="rId3"/>
              </a:rPr>
              <a:t>https://www.ibge.gov.br/estatisticas/economicas/contas-nacionais/9088-produto-interno-bruto-dos-municipios.html?=&amp;t=downloads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b765e90c6_0_16"/>
          <p:cNvSpPr txBox="1"/>
          <p:nvPr/>
        </p:nvSpPr>
        <p:spPr>
          <a:xfrm>
            <a:off x="312675" y="4579400"/>
            <a:ext cx="83034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6" name="Google Shape;136;g3ab765e90c6_0_16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{1262D986-DCBF-40E7-BDD5-810F28A7CF42}</a:tableStyleId>
              </a:tblPr>
              <a:tblGrid>
                <a:gridCol w="1578100"/>
                <a:gridCol w="1850900"/>
                <a:gridCol w="2994025"/>
                <a:gridCol w="2720975"/>
              </a:tblGrid>
              <a:tr h="13885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Crescimento anual do PIB per capita.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Variação anual, em porcentagem, do PIB per capita.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Mede como a geração de riqueza por pessoa evoluiu ao longo do tempo.</a:t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O crescimento do PIB per capita é usado pelo gestor como termômetro da renda média da população, orientando investimentos, políticas sociais e estratégias de desenvolvimento regional.</a:t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Educação → Crescimento do PIB: ampliar capacitação e inovação.  Queda do PIB: reforçar inclusão e combate à evasão.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Saúde → Crescimento do PIB: investir em hospitais e prevenção.  Queda do PIB: ampliar programas sociais e assistência básica.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CB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g3ab765e90c6_0_16"/>
          <p:cNvSpPr txBox="1"/>
          <p:nvPr/>
        </p:nvSpPr>
        <p:spPr>
          <a:xfrm>
            <a:off x="367175" y="4268900"/>
            <a:ext cx="83043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Fonte:</a:t>
            </a:r>
            <a:r>
              <a:rPr b="1" lang="pt-BR" u="sng">
                <a:solidFill>
                  <a:schemeClr val="hlink"/>
                </a:solidFill>
                <a:hlinkClick r:id="rId3"/>
              </a:rPr>
              <a:t>https://www.ibge.gov.br/estatisticas/economicas/contas-nacionais/9088-produto-interno-bruto-dos-municipios.html?=&amp;t=downloads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ETAPA 3 - MODELAGEM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9"/>
            </a:pPr>
            <a:r>
              <a:rPr lang="pt-BR"/>
              <a:t>Modelo Relacional</a:t>
            </a:r>
            <a:endParaRPr/>
          </a:p>
        </p:txBody>
      </p:sp>
      <p:sp>
        <p:nvSpPr>
          <p:cNvPr id="148" name="Google Shape;148;p13"/>
          <p:cNvSpPr txBox="1"/>
          <p:nvPr/>
        </p:nvSpPr>
        <p:spPr>
          <a:xfrm>
            <a:off x="311700" y="4703625"/>
            <a:ext cx="85206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cap="none" strike="noStrike">
                <a:latin typeface="Arial"/>
                <a:ea typeface="Arial"/>
                <a:cs typeface="Arial"/>
                <a:sym typeface="Arial"/>
              </a:rPr>
              <a:t>Link para o dicionário de dados:</a:t>
            </a:r>
            <a:r>
              <a:rPr b="1" lang="pt-BR"/>
              <a:t> </a:t>
            </a:r>
            <a:r>
              <a:rPr b="1" i="0" lang="pt-BR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https://github.com/renigoms/projeto_de_sad/blob/main/metadata.xlsx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70125"/>
            <a:ext cx="9144002" cy="33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sp>
        <p:nvSpPr>
          <p:cNvPr id="155" name="Google Shape;15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pt-BR"/>
              <a:t>Área de Negócios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Financeira;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B. 	Processo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Análise do PIB;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C. 	Granularidade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ano(dim_tempo) X nome_municipio(dim_local);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sp>
        <p:nvSpPr>
          <p:cNvPr id="161" name="Google Shape;16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UcPeriod" startAt="4"/>
            </a:pPr>
            <a:r>
              <a:rPr lang="pt-BR"/>
              <a:t>Atributos e Hierarquia das Dimensões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/>
              <a:t>Tempo: </a:t>
            </a:r>
            <a:r>
              <a:rPr lang="pt-BR" sz="1800"/>
              <a:t>pk_tempo, ano;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 sz="1800"/>
              <a:t>Local:  </a:t>
            </a:r>
            <a:endParaRPr b="1" sz="1800"/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/>
              <a:t>pk_local, nome_municipio       nome_microregião       </a:t>
            </a:r>
            <a:r>
              <a:rPr lang="pt-BR" sz="1800"/>
              <a:t>sigla_uf </a:t>
            </a:r>
            <a:r>
              <a:rPr lang="pt-BR" sz="1800"/>
              <a:t>       </a:t>
            </a:r>
            <a:r>
              <a:rPr lang="pt-BR" sz="1800"/>
              <a:t>uf_nome     </a:t>
            </a:r>
            <a:r>
              <a:rPr lang="pt-BR" sz="1800"/>
              <a:t>nome_região;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/>
              <a:t>sigla_uf      uf_nome     nome_região;</a:t>
            </a:r>
            <a:endParaRPr sz="18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BR" sz="1800"/>
              <a:t>nome_microregião      sigla_uf      uf_nome;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cxnSp>
        <p:nvCxnSpPr>
          <p:cNvPr id="162" name="Google Shape;162;p15"/>
          <p:cNvCxnSpPr/>
          <p:nvPr/>
        </p:nvCxnSpPr>
        <p:spPr>
          <a:xfrm flipH="1" rot="10800000">
            <a:off x="4499175" y="2680300"/>
            <a:ext cx="2901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15"/>
          <p:cNvCxnSpPr/>
          <p:nvPr/>
        </p:nvCxnSpPr>
        <p:spPr>
          <a:xfrm>
            <a:off x="6922025" y="2667550"/>
            <a:ext cx="21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15"/>
          <p:cNvCxnSpPr/>
          <p:nvPr/>
        </p:nvCxnSpPr>
        <p:spPr>
          <a:xfrm>
            <a:off x="8196450" y="2667550"/>
            <a:ext cx="21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15"/>
          <p:cNvCxnSpPr/>
          <p:nvPr/>
        </p:nvCxnSpPr>
        <p:spPr>
          <a:xfrm>
            <a:off x="2671438" y="3614200"/>
            <a:ext cx="21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15"/>
          <p:cNvCxnSpPr/>
          <p:nvPr/>
        </p:nvCxnSpPr>
        <p:spPr>
          <a:xfrm>
            <a:off x="3891813" y="3614200"/>
            <a:ext cx="21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15"/>
          <p:cNvCxnSpPr/>
          <p:nvPr/>
        </p:nvCxnSpPr>
        <p:spPr>
          <a:xfrm>
            <a:off x="4914175" y="4447325"/>
            <a:ext cx="21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15"/>
          <p:cNvCxnSpPr/>
          <p:nvPr/>
        </p:nvCxnSpPr>
        <p:spPr>
          <a:xfrm>
            <a:off x="3746275" y="4447325"/>
            <a:ext cx="21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15"/>
          <p:cNvCxnSpPr/>
          <p:nvPr/>
        </p:nvCxnSpPr>
        <p:spPr>
          <a:xfrm>
            <a:off x="2716300" y="2984425"/>
            <a:ext cx="21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sp>
        <p:nvSpPr>
          <p:cNvPr id="175" name="Google Shape;175;p16"/>
          <p:cNvSpPr txBox="1"/>
          <p:nvPr>
            <p:ph idx="1" type="body"/>
          </p:nvPr>
        </p:nvSpPr>
        <p:spPr>
          <a:xfrm>
            <a:off x="311700" y="11651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UcPeriod" startAt="5"/>
            </a:pPr>
            <a:r>
              <a:rPr lang="pt-BR"/>
              <a:t>Métricas da Fato (incluir o tipo da métrica: aditiva…)</a:t>
            </a:r>
            <a:endParaRPr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 </a:t>
            </a:r>
            <a:r>
              <a:rPr b="1" lang="pt-BR" sz="1900"/>
              <a:t>pib </a:t>
            </a:r>
            <a:r>
              <a:rPr lang="pt-BR" sz="1900"/>
              <a:t>  -  numeric - aditiva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 </a:t>
            </a:r>
            <a:r>
              <a:rPr b="1" lang="pt-BR" sz="1900"/>
              <a:t>pib per capita</a:t>
            </a:r>
            <a:r>
              <a:rPr lang="pt-BR" sz="1900"/>
              <a:t> - numeric </a:t>
            </a:r>
            <a:r>
              <a:rPr lang="pt-BR" sz="1900"/>
              <a:t>- aditiva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 </a:t>
            </a:r>
            <a:r>
              <a:rPr b="1" lang="pt-BR" sz="1900"/>
              <a:t>impostos_liquidos </a:t>
            </a:r>
            <a:r>
              <a:rPr lang="pt-BR" sz="1900"/>
              <a:t>- numeric </a:t>
            </a:r>
            <a:r>
              <a:rPr lang="pt-BR" sz="1900"/>
              <a:t>- aditiva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 </a:t>
            </a:r>
            <a:r>
              <a:rPr b="1" lang="pt-BR" sz="1900"/>
              <a:t>va </a:t>
            </a:r>
            <a:r>
              <a:rPr lang="pt-BR" sz="1900"/>
              <a:t>- numeric </a:t>
            </a:r>
            <a:r>
              <a:rPr lang="pt-BR" sz="1900"/>
              <a:t>- aditiva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 </a:t>
            </a:r>
            <a:r>
              <a:rPr b="1" lang="pt-BR" sz="1900"/>
              <a:t>va_agropecuaria </a:t>
            </a:r>
            <a:r>
              <a:rPr lang="pt-BR" sz="1900"/>
              <a:t>- numeric </a:t>
            </a:r>
            <a:r>
              <a:rPr lang="pt-BR" sz="1900"/>
              <a:t>- aditiva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 </a:t>
            </a:r>
            <a:r>
              <a:rPr b="1" lang="pt-BR" sz="1900"/>
              <a:t>va_industria </a:t>
            </a:r>
            <a:r>
              <a:rPr lang="pt-BR" sz="1900"/>
              <a:t>- numeric </a:t>
            </a:r>
            <a:r>
              <a:rPr lang="pt-BR" sz="1900"/>
              <a:t>- aditiva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 </a:t>
            </a:r>
            <a:r>
              <a:rPr b="1" lang="pt-BR" sz="1900"/>
              <a:t>va_servicos </a:t>
            </a:r>
            <a:r>
              <a:rPr lang="pt-BR" sz="1900"/>
              <a:t>- numeric </a:t>
            </a:r>
            <a:r>
              <a:rPr lang="pt-BR" sz="1900"/>
              <a:t>- aditiva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 </a:t>
            </a:r>
            <a:r>
              <a:rPr b="1" lang="pt-BR" sz="1900"/>
              <a:t>va_adespss </a:t>
            </a:r>
            <a:r>
              <a:rPr lang="pt-BR" sz="1900"/>
              <a:t>-  numeric </a:t>
            </a:r>
            <a:r>
              <a:rPr lang="pt-BR" sz="1900"/>
              <a:t>- aditiva</a:t>
            </a:r>
            <a:endParaRPr sz="19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pic>
        <p:nvPicPr>
          <p:cNvPr id="181" name="Google Shape;1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90079"/>
            <a:ext cx="9144000" cy="2363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sp>
        <p:nvSpPr>
          <p:cNvPr id="187" name="Google Shape;187;p18"/>
          <p:cNvSpPr txBox="1"/>
          <p:nvPr>
            <p:ph idx="1" type="body"/>
          </p:nvPr>
        </p:nvSpPr>
        <p:spPr>
          <a:xfrm>
            <a:off x="248650" y="1017725"/>
            <a:ext cx="85206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UcPeriod" startAt="7"/>
            </a:pPr>
            <a:r>
              <a:rPr lang="pt-BR"/>
              <a:t>Simulação de inserção de 10 “fatos”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188" name="Google Shape;188;p18"/>
          <p:cNvGraphicFramePr/>
          <p:nvPr/>
        </p:nvGraphicFramePr>
        <p:xfrm>
          <a:off x="0" y="163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{59FB2169-7882-4E56-B61D-696A2B330314}</a:tableStyleId>
              </a:tblPr>
              <a:tblGrid>
                <a:gridCol w="683525"/>
                <a:gridCol w="716400"/>
                <a:gridCol w="1075225"/>
                <a:gridCol w="1153975"/>
                <a:gridCol w="1264500"/>
                <a:gridCol w="1047050"/>
                <a:gridCol w="1171300"/>
                <a:gridCol w="1016000"/>
                <a:gridCol w="1016000"/>
              </a:tblGrid>
              <a:tr h="101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FK_TEMPO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FK_LOCAL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PIB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IMPOSTO_ LIQUIDO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VA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VA_AGROPECUARIA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VA_INDUSTRIA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VA_ADMINISTRACAO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PIB_PER_CAPITA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5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853291,329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125425,128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727866,202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8224,906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217062,117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191597,24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9036,42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5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191903,759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15825,548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176078,21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4168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20118,792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80480,196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5468,75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5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82805,479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5246,836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77558,642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5667,003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2815,017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42998,419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4708,07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" name="Google Shape;193;g38e2301ea90_0_3"/>
          <p:cNvGraphicFramePr/>
          <p:nvPr/>
        </p:nvGraphicFramePr>
        <p:xfrm>
          <a:off x="-25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{59FB2169-7882-4E56-B61D-696A2B330314}</a:tableStyleId>
              </a:tblPr>
              <a:tblGrid>
                <a:gridCol w="578000"/>
                <a:gridCol w="539425"/>
                <a:gridCol w="728100"/>
                <a:gridCol w="1012350"/>
                <a:gridCol w="914750"/>
                <a:gridCol w="1103675"/>
                <a:gridCol w="1474000"/>
                <a:gridCol w="1449050"/>
                <a:gridCol w="1344675"/>
              </a:tblGrid>
              <a:tr h="144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FK_TEMPO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FK_LOCAL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PIB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IMPOSTO_LIQUIDO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VA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VA_AGROPECUARIA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VA_INDUSTRIA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VA_ADMINISTRACAO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PIB_PER_CAPITA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14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115742,806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7053,424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108689,382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15868,661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6675,529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53880,608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5103,3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5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141818,75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4414,347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137404,403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30874,642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4846,902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75990,821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4291,56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5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168443,558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11557,405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156886,153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13544,782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5008,268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89811,877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4210,35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5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73735,362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2488,98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71246,382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19631,284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1955,989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32857,571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5358,29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Google Shape;198;g38e2301ea90_1_72"/>
          <p:cNvGraphicFramePr/>
          <p:nvPr/>
        </p:nvGraphicFramePr>
        <p:xfrm>
          <a:off x="-25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{59FB2169-7882-4E56-B61D-696A2B330314}</a:tableStyleId>
              </a:tblPr>
              <a:tblGrid>
                <a:gridCol w="578000"/>
                <a:gridCol w="774300"/>
                <a:gridCol w="741125"/>
                <a:gridCol w="1116750"/>
                <a:gridCol w="810350"/>
                <a:gridCol w="1338575"/>
                <a:gridCol w="1134750"/>
                <a:gridCol w="1501200"/>
                <a:gridCol w="1148975"/>
              </a:tblGrid>
              <a:tr h="186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FK_TEMPO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FK_LOCAL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PIB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IMPOSTO_LIQUIDO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VA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VA_AGROPECUARIA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VA_INDUSTRIA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VA_ADMINISTRACAO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2"/>
                          </a:solidFill>
                        </a:rPr>
                        <a:t>PIB_PER_CAPITA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9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8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200480,146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7665,354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192814,792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44902,462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10478,979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90113,033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5358,43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9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88401,079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3146,88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85254,199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7943,315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2766,561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51636,905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3953,01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9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10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124547,016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4268,988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120278,029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35194,987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5018,094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53421,301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5680,59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 do Data Mart (lógico)</a:t>
            </a:r>
            <a:endParaRPr/>
          </a:p>
        </p:txBody>
      </p:sp>
      <p:sp>
        <p:nvSpPr>
          <p:cNvPr id="204" name="Google Shape;204;p19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UcPeriod" startAt="8"/>
            </a:pPr>
            <a:r>
              <a:rPr lang="pt-BR"/>
              <a:t>Estimativa de espaço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pt-BR"/>
              <a:t>Tabela Fato</a:t>
            </a:r>
            <a:r>
              <a:rPr b="1" lang="pt-BR" sz="1800"/>
              <a:t>:</a:t>
            </a:r>
            <a:endParaRPr b="1" sz="1800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3700 + (185 * 20) = 7400 registros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3700 - Dados totais já presentes no data mart;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185 - Municípios verificados por ano;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20 - Próximos 20 anos.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7400 x (15x8 + 4x2) = 947.200 bytes =&gt; 925 KB </a:t>
            </a:r>
            <a:r>
              <a:rPr lang="pt-BR"/>
              <a:t>ou aproximadamente </a:t>
            </a:r>
            <a:r>
              <a:rPr lang="pt-BR"/>
              <a:t>0,903 MB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15 bytes para cada NUMERIC em m</a:t>
            </a:r>
            <a:r>
              <a:rPr lang="pt-BR"/>
              <a:t>édia; 8 atributos NUMERIC;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4 bytes para cada INTEGER; 2 atributos INTEGER;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0,903 </a:t>
            </a:r>
            <a:r>
              <a:rPr lang="pt-BR"/>
              <a:t>MB</a:t>
            </a:r>
            <a:r>
              <a:rPr lang="pt-BR"/>
              <a:t> para a fato;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pt-BR"/>
              <a:t>Tabelas de Dimensões</a:t>
            </a:r>
            <a:r>
              <a:rPr lang="pt-BR"/>
              <a:t>: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185 KB ou aproximadamente 0,180 MB </a:t>
            </a:r>
            <a:r>
              <a:rPr lang="pt-BR"/>
              <a:t>(correspondendo a 20% do espaço da fato).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pt-BR"/>
              <a:t>Total Estimado</a:t>
            </a:r>
            <a:r>
              <a:rPr lang="pt-BR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925 KB (fato) + 185 KB (dimensões) = 1.110 KB ou aproximadamente 1,083 MB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ETAPA 4 - PROJETO FÍSICO DO BD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1"/>
            </a:pPr>
            <a:r>
              <a:rPr lang="pt-BR"/>
              <a:t>Modelo Relacional do Data Mart (físico)</a:t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16" name="Google Shape;2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66850"/>
            <a:ext cx="4260300" cy="32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800" y="1366850"/>
            <a:ext cx="4317325" cy="32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/>
          <p:nvPr>
            <p:ph type="title"/>
          </p:nvPr>
        </p:nvSpPr>
        <p:spPr>
          <a:xfrm>
            <a:off x="311700" y="1702550"/>
            <a:ext cx="8520600" cy="12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ETAPA 5 - EXTRAÇÃO, TRANSFORMAÇÃO E CARGA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2"/>
            </a:pPr>
            <a:r>
              <a:rPr lang="pt-BR"/>
              <a:t>Plano de Carga da Dimensão Tempo</a:t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29" name="Google Shape;2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150" y="1889125"/>
            <a:ext cx="6543675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3"/>
            </a:pPr>
            <a:r>
              <a:rPr lang="pt-BR"/>
              <a:t>Plano de Carga da Dimensão Local</a:t>
            </a:r>
            <a:endParaRPr/>
          </a:p>
        </p:txBody>
      </p:sp>
      <p:sp>
        <p:nvSpPr>
          <p:cNvPr id="235" name="Google Shape;23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36" name="Google Shape;2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713" y="1489075"/>
            <a:ext cx="7839075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5"/>
            </a:pPr>
            <a:r>
              <a:rPr lang="pt-BR"/>
              <a:t>Plano de Carga da Fato</a:t>
            </a:r>
            <a:endParaRPr/>
          </a:p>
        </p:txBody>
      </p:sp>
      <p:sp>
        <p:nvSpPr>
          <p:cNvPr id="242" name="Google Shape;24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43" name="Google Shape;2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50" y="1674800"/>
            <a:ext cx="8877300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/>
          <p:nvPr>
            <p:ph type="title"/>
          </p:nvPr>
        </p:nvSpPr>
        <p:spPr>
          <a:xfrm>
            <a:off x="311700" y="1702550"/>
            <a:ext cx="8520600" cy="12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ETAPA 6 - APLICAÇÃO OLAP e PAINEL DE BORDO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1 - Renan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254" name="Google Shape;25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55" name="Google Shape;2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875" y="1152475"/>
            <a:ext cx="7170250" cy="365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2 - Renan</a:t>
            </a:r>
            <a:endParaRPr sz="2000"/>
          </a:p>
        </p:txBody>
      </p:sp>
      <p:sp>
        <p:nvSpPr>
          <p:cNvPr id="261" name="Google Shape;26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62" name="Google Shape;2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638" y="1017725"/>
            <a:ext cx="7970726" cy="399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3 - Renan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268" name="Google Shape;26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525" y="1187150"/>
            <a:ext cx="673095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c623745db_0_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4 - Renan</a:t>
            </a:r>
            <a:endParaRPr sz="2000"/>
          </a:p>
        </p:txBody>
      </p:sp>
      <p:pic>
        <p:nvPicPr>
          <p:cNvPr id="274" name="Google Shape;274;g3ac623745db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075" y="1017725"/>
            <a:ext cx="671785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ca8f3afa6_0_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5 - Renan</a:t>
            </a:r>
            <a:endParaRPr sz="2000"/>
          </a:p>
        </p:txBody>
      </p:sp>
      <p:pic>
        <p:nvPicPr>
          <p:cNvPr id="280" name="Google Shape;280;g3aca8f3afa6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938" y="1017725"/>
            <a:ext cx="674412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ca8f3afa6_0_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6 - Renan</a:t>
            </a:r>
            <a:endParaRPr sz="2000"/>
          </a:p>
        </p:txBody>
      </p:sp>
      <p:pic>
        <p:nvPicPr>
          <p:cNvPr id="286" name="Google Shape;286;g3aca8f3afa6_0_7" title="Captura de tela 2025-12-02 0647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788" y="1144925"/>
            <a:ext cx="671042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ca8f3afa6_0_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7 - Renan</a:t>
            </a:r>
            <a:endParaRPr sz="2000"/>
          </a:p>
        </p:txBody>
      </p:sp>
      <p:pic>
        <p:nvPicPr>
          <p:cNvPr id="292" name="Google Shape;292;g3aca8f3afa6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288" y="1017725"/>
            <a:ext cx="673343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f1c62c758_1_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8 - Renan</a:t>
            </a:r>
            <a:endParaRPr sz="2000"/>
          </a:p>
        </p:txBody>
      </p:sp>
      <p:pic>
        <p:nvPicPr>
          <p:cNvPr id="298" name="Google Shape;298;g3af1c62c758_1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2450" y="1076450"/>
            <a:ext cx="6719112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f1c62c758_1_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9 - Renan</a:t>
            </a:r>
            <a:endParaRPr sz="2000"/>
          </a:p>
        </p:txBody>
      </p:sp>
      <p:pic>
        <p:nvPicPr>
          <p:cNvPr id="304" name="Google Shape;304;g3af1c62c758_1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100" y="1017725"/>
            <a:ext cx="672179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ca8f3afa6_0_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1 - Felipe</a:t>
            </a:r>
            <a:endParaRPr sz="2000"/>
          </a:p>
        </p:txBody>
      </p:sp>
      <p:pic>
        <p:nvPicPr>
          <p:cNvPr id="310" name="Google Shape;310;g3aca8f3afa6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263" y="1202475"/>
            <a:ext cx="7553474" cy="380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f1c62c758_1_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2 - Felipe</a:t>
            </a:r>
            <a:endParaRPr sz="2000"/>
          </a:p>
        </p:txBody>
      </p:sp>
      <p:pic>
        <p:nvPicPr>
          <p:cNvPr id="316" name="Google Shape;316;g3af1c62c758_1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63" y="1117300"/>
            <a:ext cx="7510875" cy="391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ca8f3afa6_0_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3 - Felipe</a:t>
            </a:r>
            <a:endParaRPr sz="2000"/>
          </a:p>
        </p:txBody>
      </p:sp>
      <p:pic>
        <p:nvPicPr>
          <p:cNvPr id="322" name="Google Shape;322;g3aca8f3afa6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150" y="1108800"/>
            <a:ext cx="7419650" cy="387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ca8f3afa6_0_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4 - Felipe</a:t>
            </a:r>
            <a:endParaRPr sz="2000"/>
          </a:p>
        </p:txBody>
      </p:sp>
      <p:pic>
        <p:nvPicPr>
          <p:cNvPr id="328" name="Google Shape;328;g3aca8f3afa6_0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00" y="1083275"/>
            <a:ext cx="7148400" cy="390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ca8f3afa6_0_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5 - Felipe</a:t>
            </a:r>
            <a:endParaRPr sz="2000"/>
          </a:p>
        </p:txBody>
      </p:sp>
      <p:pic>
        <p:nvPicPr>
          <p:cNvPr id="334" name="Google Shape;334;g3aca8f3afa6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975" y="1017725"/>
            <a:ext cx="7332050" cy="394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ca8f3afa6_0_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6 - Felipe</a:t>
            </a:r>
            <a:endParaRPr sz="2000"/>
          </a:p>
        </p:txBody>
      </p:sp>
      <p:pic>
        <p:nvPicPr>
          <p:cNvPr id="340" name="Google Shape;340;g3aca8f3afa6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550" y="1060300"/>
            <a:ext cx="6766011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ca8f3afa6_0_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7 - Felipe</a:t>
            </a:r>
            <a:endParaRPr sz="2000"/>
          </a:p>
        </p:txBody>
      </p:sp>
      <p:pic>
        <p:nvPicPr>
          <p:cNvPr id="346" name="Google Shape;346;g3aca8f3afa6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275" y="1076450"/>
            <a:ext cx="674345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ca8f3afa6_0_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8 - Felipe</a:t>
            </a:r>
            <a:endParaRPr sz="2000"/>
          </a:p>
        </p:txBody>
      </p:sp>
      <p:pic>
        <p:nvPicPr>
          <p:cNvPr id="352" name="Google Shape;352;g3aca8f3afa6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625" y="1076475"/>
            <a:ext cx="6762743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ca8f3afa6_0_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16"/>
            </a:pPr>
            <a:r>
              <a:rPr lang="pt-BR" sz="2000"/>
              <a:t>Consulta OLAP 9 - Felipe</a:t>
            </a:r>
            <a:endParaRPr sz="2000"/>
          </a:p>
        </p:txBody>
      </p:sp>
      <p:pic>
        <p:nvPicPr>
          <p:cNvPr id="358" name="Google Shape;358;g3aca8f3afa6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2750" y="1017725"/>
            <a:ext cx="671851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364" name="Google Shape;364;p32"/>
          <p:cNvSpPr txBox="1"/>
          <p:nvPr>
            <p:ph idx="1" type="body"/>
          </p:nvPr>
        </p:nvSpPr>
        <p:spPr>
          <a:xfrm>
            <a:off x="185625" y="10894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INSTITUTO BRASILEIRO DE GEOGRAFIA E ESTATÍSTICA (IBGE). Produto Interno Bruto dos Municípios. Disponível em: https://www.ibge.gov.br/estatisticas/economicas/contas-nacionais/9088-produto-interno-bruto-dos-municipios.html?=&amp;t=downloads. Acesso em: 29 nov. 2025.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